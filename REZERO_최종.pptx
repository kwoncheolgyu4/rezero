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4F49"/>
    <a:srgbClr val="062724"/>
    <a:srgbClr val="3E7B7D"/>
    <a:srgbClr val="EFFB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D9AB-EF3C-4E0F-8D29-3FFD6E413599}" type="datetimeFigureOut">
              <a:rPr lang="ko-KR" altLang="en-US" smtClean="0"/>
              <a:t>2024-12-02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B693-B69E-4444-82A7-47F4E5C1D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689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D9AB-EF3C-4E0F-8D29-3FFD6E413599}" type="datetimeFigureOut">
              <a:rPr lang="ko-KR" altLang="en-US" smtClean="0"/>
              <a:t>2024-12-02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B693-B69E-4444-82A7-47F4E5C1D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3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D9AB-EF3C-4E0F-8D29-3FFD6E413599}" type="datetimeFigureOut">
              <a:rPr lang="ko-KR" altLang="en-US" smtClean="0"/>
              <a:t>2024-12-02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B693-B69E-4444-82A7-47F4E5C1D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11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D9AB-EF3C-4E0F-8D29-3FFD6E413599}" type="datetimeFigureOut">
              <a:rPr lang="ko-KR" altLang="en-US" smtClean="0"/>
              <a:t>2024-12-02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B693-B69E-4444-82A7-47F4E5C1D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435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D9AB-EF3C-4E0F-8D29-3FFD6E413599}" type="datetimeFigureOut">
              <a:rPr lang="ko-KR" altLang="en-US" smtClean="0"/>
              <a:t>2024-12-02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B693-B69E-4444-82A7-47F4E5C1D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535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D9AB-EF3C-4E0F-8D29-3FFD6E413599}" type="datetimeFigureOut">
              <a:rPr lang="ko-KR" altLang="en-US" smtClean="0"/>
              <a:t>2024-12-02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B693-B69E-4444-82A7-47F4E5C1D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022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D9AB-EF3C-4E0F-8D29-3FFD6E413599}" type="datetimeFigureOut">
              <a:rPr lang="ko-KR" altLang="en-US" smtClean="0"/>
              <a:t>2024-12-02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B693-B69E-4444-82A7-47F4E5C1D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777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D9AB-EF3C-4E0F-8D29-3FFD6E413599}" type="datetimeFigureOut">
              <a:rPr lang="ko-KR" altLang="en-US" smtClean="0"/>
              <a:t>2024-12-02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B693-B69E-4444-82A7-47F4E5C1D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031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D9AB-EF3C-4E0F-8D29-3FFD6E413599}" type="datetimeFigureOut">
              <a:rPr lang="ko-KR" altLang="en-US" smtClean="0"/>
              <a:t>2024-12-02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B693-B69E-4444-82A7-47F4E5C1D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263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D9AB-EF3C-4E0F-8D29-3FFD6E413599}" type="datetimeFigureOut">
              <a:rPr lang="ko-KR" altLang="en-US" smtClean="0"/>
              <a:t>2024-12-02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B693-B69E-4444-82A7-47F4E5C1D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77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D9AB-EF3C-4E0F-8D29-3FFD6E413599}" type="datetimeFigureOut">
              <a:rPr lang="ko-KR" altLang="en-US" smtClean="0"/>
              <a:t>2024-12-02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B693-B69E-4444-82A7-47F4E5C1D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059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5D9AB-EF3C-4E0F-8D29-3FFD6E413599}" type="datetimeFigureOut">
              <a:rPr lang="ko-KR" altLang="en-US" smtClean="0"/>
              <a:t>2024-12-02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B693-B69E-4444-82A7-47F4E5C1D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184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7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8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6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59053"/>
              </p:ext>
            </p:extLst>
          </p:nvPr>
        </p:nvGraphicFramePr>
        <p:xfrm>
          <a:off x="1093304" y="1895453"/>
          <a:ext cx="10005392" cy="416519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054917">
                  <a:extLst>
                    <a:ext uri="{9D8B030D-6E8A-4147-A177-3AD203B41FA5}">
                      <a16:colId xmlns:a16="http://schemas.microsoft.com/office/drawing/2014/main" val="3345594214"/>
                    </a:ext>
                  </a:extLst>
                </a:gridCol>
                <a:gridCol w="1370304">
                  <a:extLst>
                    <a:ext uri="{9D8B030D-6E8A-4147-A177-3AD203B41FA5}">
                      <a16:colId xmlns:a16="http://schemas.microsoft.com/office/drawing/2014/main" val="3075497300"/>
                    </a:ext>
                  </a:extLst>
                </a:gridCol>
                <a:gridCol w="2349092">
                  <a:extLst>
                    <a:ext uri="{9D8B030D-6E8A-4147-A177-3AD203B41FA5}">
                      <a16:colId xmlns:a16="http://schemas.microsoft.com/office/drawing/2014/main" val="906820381"/>
                    </a:ext>
                  </a:extLst>
                </a:gridCol>
                <a:gridCol w="4469799">
                  <a:extLst>
                    <a:ext uri="{9D8B030D-6E8A-4147-A177-3AD203B41FA5}">
                      <a16:colId xmlns:a16="http://schemas.microsoft.com/office/drawing/2014/main" val="949864955"/>
                    </a:ext>
                  </a:extLst>
                </a:gridCol>
                <a:gridCol w="761280">
                  <a:extLst>
                    <a:ext uri="{9D8B030D-6E8A-4147-A177-3AD203B41FA5}">
                      <a16:colId xmlns:a16="http://schemas.microsoft.com/office/drawing/2014/main" val="367011365"/>
                    </a:ext>
                  </a:extLst>
                </a:gridCol>
              </a:tblGrid>
              <a:tr h="364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 smtClean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대분류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F4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소분류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F4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기능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F4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내용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F4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구현</a:t>
                      </a:r>
                      <a:endParaRPr lang="en-US" altLang="ko-KR" sz="1400" b="0" dirty="0" smtClean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여부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095274"/>
                  </a:ext>
                </a:extLst>
              </a:tr>
              <a:tr h="390376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사용자</a:t>
                      </a:r>
                      <a:endParaRPr lang="ko-KR" altLang="en-US" sz="1200" dirty="0">
                        <a:solidFill>
                          <a:srgbClr val="062724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계정 관리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회원가입 및 로그인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사용자는 회원가입을 수행하여 추가 기능을 이용할 수 있다</a:t>
                      </a: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O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3393"/>
                  </a:ext>
                </a:extLst>
              </a:tr>
              <a:tr h="39037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회원 정보 수정 및 탈퇴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회원 정보를 수정하거나 탈퇴를 진행할 수 있다</a:t>
                      </a: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O</a:t>
                      </a:r>
                      <a:endParaRPr lang="ko-KR" altLang="en-US" sz="1200" dirty="0" smtClean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055282"/>
                  </a:ext>
                </a:extLst>
              </a:tr>
              <a:tr h="39037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지도 조회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구</a:t>
                      </a: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, </a:t>
                      </a:r>
                      <a:r>
                        <a:rPr lang="ko-KR" altLang="en-US" sz="1200" dirty="0" err="1" smtClean="0">
                          <a:solidFill>
                            <a:srgbClr val="062724"/>
                          </a:solidFill>
                        </a:rPr>
                        <a:t>동별</a:t>
                      </a:r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 지도 탐색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지도를 통해 에너지 사용량을 조회할 지역을 선택할 수 있다</a:t>
                      </a: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O</a:t>
                      </a:r>
                      <a:endParaRPr lang="ko-KR" altLang="en-US" sz="1200" dirty="0" smtClean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569624"/>
                  </a:ext>
                </a:extLst>
              </a:tr>
              <a:tr h="39393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사용량 조회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에너지 사용량 조회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슬라이더를 </a:t>
                      </a:r>
                      <a:r>
                        <a:rPr lang="ko-KR" altLang="en-US" sz="1200" dirty="0" err="1" smtClean="0">
                          <a:solidFill>
                            <a:srgbClr val="062724"/>
                          </a:solidFill>
                        </a:rPr>
                        <a:t>토글</a:t>
                      </a:r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 하면 선택된 하위 옵션</a:t>
                      </a: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전기</a:t>
                      </a: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, </a:t>
                      </a:r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가스</a:t>
                      </a: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)</a:t>
                      </a:r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에 따라</a:t>
                      </a:r>
                      <a:endParaRPr lang="en-US" altLang="ko-KR" sz="1200" dirty="0" smtClean="0">
                        <a:solidFill>
                          <a:srgbClr val="062724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관련된 데이터의 사용량을 차트로 조회할 수 있다</a:t>
                      </a: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O</a:t>
                      </a:r>
                      <a:endParaRPr lang="ko-KR" altLang="en-US" sz="1200" dirty="0" smtClean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7040111"/>
                  </a:ext>
                </a:extLst>
              </a:tr>
              <a:tr h="39393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에너지 사용량 예측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예측 모델을 사용하여 차후 에너지 사용량 데이터를 예측</a:t>
                      </a:r>
                      <a:r>
                        <a:rPr lang="ko-KR" altLang="en-US" sz="1200" baseline="0" dirty="0" smtClean="0">
                          <a:solidFill>
                            <a:srgbClr val="062724"/>
                          </a:solidFill>
                        </a:rPr>
                        <a:t> 후</a:t>
                      </a:r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 차트로 조회 할 수 있다</a:t>
                      </a: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.</a:t>
                      </a:r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 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O</a:t>
                      </a:r>
                      <a:endParaRPr lang="ko-KR" altLang="en-US" sz="1200" dirty="0" smtClean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182647"/>
                  </a:ext>
                </a:extLst>
              </a:tr>
              <a:tr h="39037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건물 에너지 사용량 조회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사용자가 등록한 주소의 건물 에너지를 조회할 수 있다</a:t>
                      </a: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O</a:t>
                      </a:r>
                      <a:endParaRPr lang="ko-KR" altLang="en-US" sz="1200" dirty="0" smtClean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667154"/>
                  </a:ext>
                </a:extLst>
              </a:tr>
              <a:tr h="39037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에너지 계산기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탄소 배출량 조회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정보를 입력 받아 탄소 배출량을 계산할 수 있다</a:t>
                      </a: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O</a:t>
                      </a:r>
                      <a:endParaRPr lang="ko-KR" altLang="en-US" sz="1200" dirty="0" smtClean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166553"/>
                  </a:ext>
                </a:extLst>
              </a:tr>
              <a:tr h="39037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에너지 절약 조회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정보를 </a:t>
                      </a:r>
                      <a:r>
                        <a:rPr lang="ko-KR" altLang="en-US" sz="1200" dirty="0" err="1" smtClean="0">
                          <a:solidFill>
                            <a:srgbClr val="062724"/>
                          </a:solidFill>
                        </a:rPr>
                        <a:t>입력받아</a:t>
                      </a:r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 에너지 </a:t>
                      </a:r>
                      <a:r>
                        <a:rPr lang="ko-KR" altLang="en-US" sz="1200" dirty="0" err="1" smtClean="0">
                          <a:solidFill>
                            <a:srgbClr val="062724"/>
                          </a:solidFill>
                        </a:rPr>
                        <a:t>절약량을</a:t>
                      </a:r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 계산할 수 있다</a:t>
                      </a: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O</a:t>
                      </a:r>
                      <a:endParaRPr lang="ko-KR" altLang="en-US" sz="1200" dirty="0" smtClean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546207"/>
                  </a:ext>
                </a:extLst>
              </a:tr>
              <a:tr h="39037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날씨 조회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대전 날씨 조회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062724"/>
                          </a:solidFill>
                        </a:rPr>
                        <a:t>현재 대전의 날씨를 실시간으로 조회할 수 있다</a:t>
                      </a: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rgbClr val="062724"/>
                          </a:solidFill>
                        </a:rPr>
                        <a:t>O</a:t>
                      </a:r>
                      <a:endParaRPr lang="ko-KR" altLang="en-US" sz="1200" dirty="0" smtClean="0">
                        <a:solidFill>
                          <a:srgbClr val="0627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2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002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335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20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3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2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1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7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606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14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825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737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2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5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99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6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73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155</Words>
  <Application>Microsoft Office PowerPoint</Application>
  <PresentationFormat>와이드스크린</PresentationFormat>
  <Paragraphs>40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Pretendard Light</vt:lpstr>
      <vt:lpstr>Pretendard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PC-28</dc:creator>
  <cp:lastModifiedBy>PC-28</cp:lastModifiedBy>
  <cp:revision>7</cp:revision>
  <dcterms:created xsi:type="dcterms:W3CDTF">2024-12-02T10:10:37Z</dcterms:created>
  <dcterms:modified xsi:type="dcterms:W3CDTF">2024-12-02T10:52:50Z</dcterms:modified>
</cp:coreProperties>
</file>